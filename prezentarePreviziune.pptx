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1" r:id="rId12"/>
    <p:sldId id="265" r:id="rId13"/>
    <p:sldId id="270" r:id="rId14"/>
    <p:sldId id="266" r:id="rId15"/>
    <p:sldId id="267" r:id="rId16"/>
    <p:sldId id="268" r:id="rId17"/>
    <p:sldId id="269" r:id="rId18"/>
    <p:sldId id="272" r:id="rId19"/>
  </p:sldIdLst>
  <p:sldSz cx="14630400" cy="8229600"/>
  <p:notesSz cx="82296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Syne" panose="020B0604020202020204" charset="0"/>
      <p:regular r:id="rId25"/>
    </p:embeddedFont>
    <p:embeddedFont>
      <p:font typeface="Syne Extra Bold" panose="020B0604020202020204" charset="0"/>
      <p:regular r:id="rId26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88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6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9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2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t.es/sites/default/files/imd_-smartcityindex-2024-full-report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7155"/>
            <a:ext cx="7556421" cy="170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De la Potențial la Performanță: </a:t>
            </a:r>
            <a:r>
              <a:rPr lang="en-US" sz="24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Utilizarea</a:t>
            </a:r>
            <a:r>
              <a:rPr lang="en-US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24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algoritmilor</a:t>
            </a:r>
            <a:r>
              <a:rPr lang="en-US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AI </a:t>
            </a:r>
            <a:r>
              <a:rPr lang="ro-RO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în de</a:t>
            </a:r>
            <a:r>
              <a:rPr lang="en-US" sz="24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zvoltarea</a:t>
            </a:r>
            <a:r>
              <a:rPr lang="en-US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urban</a:t>
            </a:r>
            <a:r>
              <a:rPr lang="ro-RO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ă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280190" y="300347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Academia de Studii Economice din Bucureşti, Facultatea de Cibernetica, Statistica si Informatica Economica, Specializarea Statistică şi Previziune Economică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34732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                                                                          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653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                                                                                     CONSTANTIN TEODOR VASILE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834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                                                                                     ERHAN TEODORA-MIRUNA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2014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                                                                                                 DURDUREANU ADINA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8195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0B4BC8-32B6-4287-9AB6-BB6AB9177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219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Introducere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70904"/>
            <a:ext cx="7556421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În era transformării digitale, conceptul de Smart City a devenit central în modelarea viitorului urban. Orașele inteligente utilizează tehnologia și inovația pentru a îmbunătăți eficiența serviciilor publice, calitatea vieții și sustenabilitatea.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-241221" y="316706"/>
            <a:ext cx="7556421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5399F7-0196-46F5-AFBC-CB72EF048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A7D3E6-EEAA-4E10-BCD5-99E391E50463}"/>
              </a:ext>
            </a:extLst>
          </p:cNvPr>
          <p:cNvSpPr txBox="1"/>
          <p:nvPr/>
        </p:nvSpPr>
        <p:spPr>
          <a:xfrm>
            <a:off x="6214572" y="5028906"/>
            <a:ext cx="752236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„Urban AI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reflectă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atât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funcțiile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de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bază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ale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tehnologiei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AI, de la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colectarea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interpretarea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datelor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, la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procesarea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incertitudinii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luarea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autonomă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a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deciziilor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[…]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Orașele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constituie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ecosisteme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dense de date care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susțin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învățarea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algoritmică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oferă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infrastructura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materială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necesară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funcționării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acestor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tehnologii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facilitează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integrarea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lor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în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procesele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de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guvernanță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200" i="1" dirty="0" err="1">
                <a:solidFill>
                  <a:srgbClr val="D7E5D8"/>
                </a:solidFill>
                <a:latin typeface="Syne" pitchFamily="34" charset="0"/>
              </a:rPr>
              <a:t>urbană</a:t>
            </a:r>
            <a:r>
              <a:rPr lang="en-US" sz="2200" i="1" dirty="0">
                <a:solidFill>
                  <a:srgbClr val="D7E5D8"/>
                </a:solidFill>
                <a:latin typeface="Syne" pitchFamily="34" charset="0"/>
              </a:rPr>
              <a:t>.”</a:t>
            </a:r>
            <a:r>
              <a:rPr lang="ro-RO" sz="22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dirty="0">
                <a:solidFill>
                  <a:srgbClr val="D7E5D8"/>
                </a:solidFill>
                <a:latin typeface="Syne" pitchFamily="34" charset="0"/>
              </a:rPr>
              <a:t>[</a:t>
            </a:r>
            <a:r>
              <a:rPr lang="ro-RO" dirty="0">
                <a:solidFill>
                  <a:srgbClr val="D7E5D8"/>
                </a:solidFill>
                <a:latin typeface="Syne" pitchFamily="34" charset="0"/>
              </a:rPr>
              <a:t>Cugurullo et al. (2024) și Agostinelli et al. (2021)</a:t>
            </a:r>
            <a:r>
              <a:rPr lang="en-US" dirty="0">
                <a:solidFill>
                  <a:srgbClr val="D7E5D8"/>
                </a:solidFill>
                <a:latin typeface="Syne" pitchFamily="34" charset="0"/>
              </a:rPr>
              <a:t>]</a:t>
            </a:r>
            <a:endParaRPr lang="en-US" sz="2200" dirty="0">
              <a:solidFill>
                <a:srgbClr val="D7E5D8"/>
              </a:solidFill>
              <a:latin typeface="Syne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-241221" y="316706"/>
            <a:ext cx="7556421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5399F7-0196-46F5-AFBC-CB72EF04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CF3A5E-494C-49F3-AE2F-6EFAB6396800}"/>
              </a:ext>
            </a:extLst>
          </p:cNvPr>
          <p:cNvSpPr txBox="1"/>
          <p:nvPr/>
        </p:nvSpPr>
        <p:spPr>
          <a:xfrm>
            <a:off x="1303733" y="2130742"/>
            <a:ext cx="11426430" cy="145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55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Lucrarea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față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își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propune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analizeze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din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perspectivă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predictivă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poziția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orașului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București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în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Smart City Index 2024 (SMCR_2024)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identifice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factorii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care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influențează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scorurile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obținute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orașe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în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acest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clasament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B05B24AE-C19A-4E15-B824-8B2788B9C602}"/>
              </a:ext>
            </a:extLst>
          </p:cNvPr>
          <p:cNvSpPr/>
          <p:nvPr/>
        </p:nvSpPr>
        <p:spPr>
          <a:xfrm>
            <a:off x="1303733" y="6054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Despre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ce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este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lucrarea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? De </a:t>
            </a: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ce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aceast</a:t>
            </a:r>
            <a:r>
              <a:rPr lang="ro-RO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ă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320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tem</a:t>
            </a:r>
            <a:r>
              <a:rPr lang="ro-RO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ă</a:t>
            </a:r>
            <a:r>
              <a:rPr lang="en-US" sz="3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?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F8F49-9C65-4794-88EB-2CC89A384988}"/>
              </a:ext>
            </a:extLst>
          </p:cNvPr>
          <p:cNvSpPr txBox="1"/>
          <p:nvPr/>
        </p:nvSpPr>
        <p:spPr>
          <a:xfrm>
            <a:off x="1344965" y="4226132"/>
            <a:ext cx="112587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Am ales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această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temă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deoarece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urbanismul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reprezintă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un pilon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esențial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al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dezvoltării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societății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moderne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iar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integrarea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inteligenței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artificiale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(AI)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în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acest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domeniu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deschide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noi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direcții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optimizare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.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Bucureștiul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ca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oraș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cu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potențial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ridicat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are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oportunitatea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a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valorifica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aceste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tehnologii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pentru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depăși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provocările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actuale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avansa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către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un model urban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sustenabil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performant.</a:t>
            </a:r>
          </a:p>
        </p:txBody>
      </p:sp>
    </p:spTree>
    <p:extLst>
      <p:ext uri="{BB962C8B-B14F-4D97-AF65-F5344CB8AC3E}">
        <p14:creationId xmlns:p14="http://schemas.microsoft.com/office/powerpoint/2010/main" val="250089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1463"/>
            <a:ext cx="95416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Obiectivele cercetarii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80404"/>
            <a:ext cx="1134070" cy="1678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507218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Construirea unui model predictiv al poziției în clasamentul orașelor inteligente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utilizând indicatori statistici și socio-economici (ex. HDI, scoruri pe infrastructură, tehnologie etc.).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268022" y="3369112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58828"/>
            <a:ext cx="1134070" cy="16784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4185642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Identificarea celor mai relevanți factori care determină poziția unui oraș în clasamentul Smart City.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2268022" y="5047536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37252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864066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Analiza urcare in clasament prin testarea anumitor imbunatatiri.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268022" y="6363057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2E982-0E22-4BF5-91FC-754D27FE2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2774"/>
            <a:ext cx="71643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Ipoteze de lucru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05182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631996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Poziția unui oraș în Smart City Index poate fi estimată cu acuratețe prin construirea unui model predictiv bazat pe indicatori statistici și socio-economici relevanți.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766066"/>
            <a:ext cx="1134070" cy="15423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8022" y="3992880"/>
            <a:ext cx="115685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Anumiți factori, precum infrastructura, tehnologia sau dezvoltarea durabilă, au o influență semnificativă asupra poziției unui oraș în clasament, iar aceștia pot fi identificați prin metode statistice și de machine learning.
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08402"/>
            <a:ext cx="1134070" cy="16784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5535216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Prin simularea unor scenarii de îmbunătățire a factorilor relevanți, se pot formula politici reglementare ce ar permite Bucureștiului o urcare semnificativă în clasamentul orașelor inteligente.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2268022" y="6397109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025356-9408-441B-92CD-00827DD82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1936"/>
            <a:ext cx="89855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Date si Metodologie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7691"/>
            <a:ext cx="33851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Datele utilizate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58835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Smart City Index 2024 report by IMD and SUTD.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25810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Available online: </a:t>
            </a:r>
            <a:r>
              <a:rPr lang="en-US" sz="1750" u="sng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IMD - Smart City Index 2024 Full Report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5568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45405"/>
            <a:ext cx="48850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Perioada de referință: anul 2024.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39828" y="2477691"/>
            <a:ext cx="3914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Variabile Utilizate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39828" y="305883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Country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Țara de proveniență a orașului;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39828" y="362581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CountryHDI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Indicele de dezvoltare umană la nivel de țară;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39828" y="419278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City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Numele orașului;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39828" y="475976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HDIcity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Estimarea indicelui de dezvoltare umană la nivel de oraș;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239828" y="532673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SMCR_2024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Clasamentul final al orașului în anul 2024;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39828" y="58937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Structure2024: Nivelul infrastructural 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 oraşului în anul 2024;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239828" y="646068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Technology2024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Nivelul tehnologic al oraşului în anul 2024;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8D4DD4-4EA9-4664-AF6D-7141185BE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464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Metodologia utilizata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90417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69796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542711"/>
            <a:ext cx="23298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Utilizat pentru modelarea relațiilor non-liniare și pentru identificarea importanței relative a variabilelor.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290417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697962"/>
            <a:ext cx="232981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Stepwise Regression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897041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Metodă automată de selecție a variabilelor, pe baza unor criterii statistice (AIC, BIC).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290417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69796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Prelucrare date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4542711"/>
            <a:ext cx="232981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Variabilele de tip calitativ au fost tratate ca factori (variabile categorice), păstrând semnificația lor ordinală acolo unde a fost justificat.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F3C79B-85FF-46D3-94CC-D32EC3FCAA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057" y="510778"/>
            <a:ext cx="7053501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Rezultate și discuții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8057" y="1367076"/>
            <a:ext cx="6558320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Obiectiv 1: Model Random Forest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7" y="1917003"/>
            <a:ext cx="5195182" cy="2703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5687" y="2056686"/>
            <a:ext cx="7544157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S-a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folosit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algoritmul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Random Forest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(700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arbori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pentru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prezice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poziția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orașelor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în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clasamentul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Smart City, pe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baza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indicatorilor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socio-economici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și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de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infrastructură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45687" y="3232309"/>
            <a:ext cx="7544157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Acuratețe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83,1%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45687" y="3667363"/>
            <a:ext cx="7544157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Eroare OOB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16,9%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6" y="4791530"/>
            <a:ext cx="5195182" cy="30896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5687" y="5186677"/>
            <a:ext cx="7544157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Eroarea modelului scade rapid în primele 100 de arbori și se stabilizează sub 0,15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45687" y="5966049"/>
            <a:ext cx="7544157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Clase rare (ex. „AAA”, „D”) au fluctuații mari, dar modelul devine stabil după 400 arbori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3EB5EC-B58F-43EC-A620-47026BED3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43107"/>
            <a:ext cx="6380559" cy="37621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5372" y="992029"/>
            <a:ext cx="610874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735372" y="1649611"/>
            <a:ext cx="610874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Cei mai importanți predictori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735372" y="2182416"/>
            <a:ext cx="610874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Structure2024 (infrastructură)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35372" y="2715220"/>
            <a:ext cx="610874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SMCR_2024 (poziție în clasament)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35372" y="3248025"/>
            <a:ext cx="610874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Technology2024 (digitalizare)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33951" y="5570696"/>
            <a:ext cx="1270265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HDIcity,CountryHDI – influență redusă, dar relevante în context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93790" y="5315545"/>
            <a:ext cx="30480" cy="963811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0" name="Text 7"/>
          <p:cNvSpPr/>
          <p:nvPr/>
        </p:nvSpPr>
        <p:spPr>
          <a:xfrm>
            <a:off x="793790" y="6534507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 baza clasificării generate de modelul Random Forest, orașul București a fost prezis în clasa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cu o poziție estimată de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77,8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mai bună decât cea reală (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).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8DA268-24E4-44D9-AB44-D2C1754D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608" y="526137"/>
            <a:ext cx="4783217" cy="5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Concluzii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9608" y="1506497"/>
            <a:ext cx="13291185" cy="101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Modelul clasifică clar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orașele în categorii distincte (A, BBB, BB, D), cu trăsături socio-economice și tehnologice bine diferențiate.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9608" y="2486978"/>
            <a:ext cx="1329118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Exemple de clase: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9608" y="3084790"/>
            <a:ext cx="1329118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Clasa 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Londra, Amsterdam – infrastructură avansată, guvernanță eficientă, societăți deschise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608" y="3534370"/>
            <a:ext cx="1329118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Clasa BBB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Berlin, Paris – economii solide, dar presiuni din urbanizare și migrație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9608" y="3983950"/>
            <a:ext cx="1329118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Clasele BB / B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București, Milano – în tranziție, afectate de birocrație și infrastructură deficitară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9608" y="4433530"/>
            <a:ext cx="1329118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Clasa D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 Bogotá, São Paulo – inegalități majore, politici reactive, infrastructură slabă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9608" y="4883110"/>
            <a:ext cx="13291185" cy="76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București – loc 100 real vs. 77,8 estimate, </a:t>
            </a:r>
            <a:r>
              <a:rPr lang="en-US" sz="2400" b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dar</a:t>
            </a: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400" b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clasa</a:t>
            </a: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B </a:t>
            </a:r>
            <a:r>
              <a:rPr lang="en-US" sz="2400" b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</a:t>
            </a:r>
            <a:r>
              <a:rPr lang="ro-RO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ă corect la Rating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6548" y="6078736"/>
            <a:ext cx="13004244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Probleme: lipsa pistelor de biciclete, transport public ineficient, lipsă de digitalizare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69608" y="5863590"/>
            <a:ext cx="22860" cy="812959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2" name="Text 10"/>
          <p:cNvSpPr/>
          <p:nvPr/>
        </p:nvSpPr>
        <p:spPr>
          <a:xfrm>
            <a:off x="956548" y="7106841"/>
            <a:ext cx="13004244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1BCEA5-7F93-41F4-8072-C85052802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608" y="526137"/>
            <a:ext cx="4783217" cy="5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Concluzii</a:t>
            </a:r>
            <a:endParaRPr lang="en-US" sz="3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1BCEA5-7F93-41F4-8072-C85052802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C897F6-3E7E-4E0A-B7D7-12E196DFDB4F}"/>
              </a:ext>
            </a:extLst>
          </p:cNvPr>
          <p:cNvSpPr txBox="1"/>
          <p:nvPr/>
        </p:nvSpPr>
        <p:spPr>
          <a:xfrm>
            <a:off x="1000125" y="1343025"/>
            <a:ext cx="1230153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D7E5D8"/>
                </a:solidFill>
                <a:latin typeface="Syne" pitchFamily="34" charset="0"/>
              </a:rPr>
              <a:t>Bucureștiul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suferă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din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cauza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unui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transport public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ineficient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lipsei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infrastructurii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pentru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mobilitate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alternativă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ceea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limitează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performanța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urbană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.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Spre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deosebire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orașele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top care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aplică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modele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sustenabile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precum „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orașul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15 minute”,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capitala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rămâne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blocată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într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-un model urban rigid. 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„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Guvernanța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anticipativă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unde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AI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modelează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scenarii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viitoare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orientează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deciziile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strategice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devine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esențială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pentru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orașele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inteligente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” . </a:t>
            </a:r>
            <a:r>
              <a:rPr lang="en-US" i="1" dirty="0">
                <a:solidFill>
                  <a:srgbClr val="D7E5D8"/>
                </a:solidFill>
                <a:latin typeface="Syne" pitchFamily="34" charset="0"/>
              </a:rPr>
              <a:t>[</a:t>
            </a:r>
            <a:r>
              <a:rPr lang="en-US" i="1" dirty="0" err="1">
                <a:solidFill>
                  <a:srgbClr val="D7E5D8"/>
                </a:solidFill>
                <a:latin typeface="Syne" pitchFamily="34" charset="0"/>
              </a:rPr>
              <a:t>Alahi</a:t>
            </a:r>
            <a:r>
              <a:rPr lang="en-US" i="1" dirty="0">
                <a:solidFill>
                  <a:srgbClr val="D7E5D8"/>
                </a:solidFill>
                <a:latin typeface="Syne" pitchFamily="34" charset="0"/>
              </a:rPr>
              <a:t> et al., 2023]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solidFill>
                <a:srgbClr val="D7E5D8"/>
              </a:solidFill>
              <a:latin typeface="Syne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Bucureștiul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are un HDI urban egal cu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cel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al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Varșoviei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diferența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majoră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clasare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(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locul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100 vs. 38)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reflectă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probleme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structurale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nu de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dezvoltare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umană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.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Infrastructura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slabă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,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mobilitatea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nesustenabilă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digitalizarea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redusă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afectează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performanța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urbană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. 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„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Integrarea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inteligenței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artificiale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(AI)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în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urbanism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optimizează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operațiunile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urbane,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procesele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decizionale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și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calitatea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vieții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i="1" dirty="0" err="1">
                <a:solidFill>
                  <a:srgbClr val="D7E5D8"/>
                </a:solidFill>
                <a:latin typeface="Syne" pitchFamily="34" charset="0"/>
              </a:rPr>
              <a:t>cetățenilor</a:t>
            </a:r>
            <a:r>
              <a:rPr lang="en-US" sz="2400" i="1" dirty="0">
                <a:solidFill>
                  <a:srgbClr val="D7E5D8"/>
                </a:solidFill>
                <a:latin typeface="Syne" pitchFamily="34" charset="0"/>
              </a:rPr>
              <a:t>”.  </a:t>
            </a:r>
            <a:r>
              <a:rPr lang="en-US" i="1" dirty="0">
                <a:solidFill>
                  <a:srgbClr val="D7E5D8"/>
                </a:solidFill>
                <a:latin typeface="Syne" pitchFamily="34" charset="0"/>
              </a:rPr>
              <a:t>[</a:t>
            </a:r>
            <a:r>
              <a:rPr lang="en-US" dirty="0" err="1">
                <a:solidFill>
                  <a:srgbClr val="D7E5D8"/>
                </a:solidFill>
                <a:latin typeface="Syne" pitchFamily="34" charset="0"/>
              </a:rPr>
              <a:t>Alahi</a:t>
            </a:r>
            <a:r>
              <a:rPr lang="en-US" dirty="0">
                <a:solidFill>
                  <a:srgbClr val="D7E5D8"/>
                </a:solidFill>
                <a:latin typeface="Syne" pitchFamily="34" charset="0"/>
              </a:rPr>
              <a:t> et al., 2023]</a:t>
            </a:r>
            <a:endParaRPr lang="en-US" sz="2400" dirty="0">
              <a:solidFill>
                <a:srgbClr val="D7E5D8"/>
              </a:solidFill>
              <a:latin typeface="Syne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rgbClr val="D7E5D8"/>
              </a:solidFill>
              <a:latin typeface="Syne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6360CA-4D5A-4612-9924-8EC5ACF19949}"/>
              </a:ext>
            </a:extLst>
          </p:cNvPr>
          <p:cNvSpPr txBox="1"/>
          <p:nvPr/>
        </p:nvSpPr>
        <p:spPr>
          <a:xfrm>
            <a:off x="1644968" y="6626948"/>
            <a:ext cx="11572874" cy="465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 err="1">
                <a:solidFill>
                  <a:srgbClr val="D7E5D8"/>
                </a:solidFill>
                <a:latin typeface="Syne" pitchFamily="34" charset="0"/>
              </a:rPr>
              <a:t>Cauza</a:t>
            </a:r>
            <a:r>
              <a:rPr lang="en-US" sz="2400" b="1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b="1" dirty="0" err="1">
                <a:solidFill>
                  <a:srgbClr val="D7E5D8"/>
                </a:solidFill>
                <a:latin typeface="Syne" pitchFamily="34" charset="0"/>
              </a:rPr>
              <a:t>principală</a:t>
            </a:r>
            <a:r>
              <a:rPr lang="en-US" sz="2400" b="1" dirty="0">
                <a:solidFill>
                  <a:srgbClr val="D7E5D8"/>
                </a:solidFill>
                <a:latin typeface="Syne" pitchFamily="34" charset="0"/>
              </a:rPr>
              <a:t>: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aplicare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deficitară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a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principiilor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de Smart City, nu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lipsa</a:t>
            </a:r>
            <a:r>
              <a:rPr lang="en-US" sz="2400" dirty="0">
                <a:solidFill>
                  <a:srgbClr val="D7E5D8"/>
                </a:solidFill>
                <a:latin typeface="Syne" pitchFamily="34" charset="0"/>
              </a:rPr>
              <a:t> </a:t>
            </a:r>
            <a:r>
              <a:rPr lang="en-US" sz="2400" dirty="0" err="1">
                <a:solidFill>
                  <a:srgbClr val="D7E5D8"/>
                </a:solidFill>
                <a:latin typeface="Syne" pitchFamily="34" charset="0"/>
              </a:rPr>
              <a:t>resurselor</a:t>
            </a:r>
            <a:endParaRPr lang="en-US" sz="2400" dirty="0">
              <a:solidFill>
                <a:srgbClr val="D7E5D8"/>
              </a:solidFill>
              <a:latin typeface="Syne" pitchFamily="34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73C449FA-7628-4C9A-AFC1-73392BCB694D}"/>
              </a:ext>
            </a:extLst>
          </p:cNvPr>
          <p:cNvSpPr/>
          <p:nvPr/>
        </p:nvSpPr>
        <p:spPr>
          <a:xfrm>
            <a:off x="1412558" y="6485215"/>
            <a:ext cx="22860" cy="812959"/>
          </a:xfrm>
          <a:prstGeom prst="rect">
            <a:avLst/>
          </a:prstGeom>
          <a:solidFill>
            <a:srgbClr val="A9F00F"/>
          </a:solidFill>
          <a:ln/>
        </p:spPr>
      </p:sp>
    </p:spTree>
    <p:extLst>
      <p:ext uri="{BB962C8B-B14F-4D97-AF65-F5344CB8AC3E}">
        <p14:creationId xmlns:p14="http://schemas.microsoft.com/office/powerpoint/2010/main" val="347997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840" y="683531"/>
            <a:ext cx="4713684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Obiectiv 2: Stepwise Regression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06472" y="1354660"/>
            <a:ext cx="13756719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Scop: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Identificarea factorilor cheie care determină poziția orașelor în Smart City Index.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98852" y="1751787"/>
            <a:ext cx="13756719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S-a aplicat regresia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stepwise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(forward &amp; backward) pe 4 predictori: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108760"/>
            <a:ext cx="13756719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55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HDIcity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CountryHDI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Structure2024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Technology2024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21" y="2795486"/>
            <a:ext cx="5676132" cy="49134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7382" y="3480784"/>
            <a:ext cx="3093919" cy="21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Rezultate cheie: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39197" y="3989963"/>
            <a:ext cx="81322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Cei mai relevanți predictori: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198" y="4340609"/>
            <a:ext cx="81322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55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Structure2024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(infrastructură)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199" y="4676689"/>
            <a:ext cx="81322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55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Technology2024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(digitalizare)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350198" y="5168334"/>
            <a:ext cx="81322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HDIcity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și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CountryHDI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→ nesemnificativi în prezența celor de mai sus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63175" y="6690409"/>
            <a:ext cx="4966165" cy="8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București: HDI comparabil cu orașe din top 50, dar poziție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slabă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cauzată de infrastructură și tehnologie deficitară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647935" y="6676534"/>
            <a:ext cx="15240" cy="249674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5" name="Text 11"/>
          <p:cNvSpPr/>
          <p:nvPr/>
        </p:nvSpPr>
        <p:spPr>
          <a:xfrm>
            <a:off x="6350198" y="4763095"/>
            <a:ext cx="785098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98852" y="7708890"/>
            <a:ext cx="15240" cy="249674"/>
          </a:xfrm>
          <a:prstGeom prst="rect">
            <a:avLst/>
          </a:prstGeom>
          <a:solidFill>
            <a:srgbClr val="A9F00F"/>
          </a:solidFill>
          <a:ln/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40A139-AF2B-491D-88D2-B3CC28ECF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089FE1-637B-F991-77C5-43A91217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73" y="1227723"/>
            <a:ext cx="6247597" cy="5774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91D9DB-C2C4-D056-BDD7-04F9B0F4EA59}"/>
              </a:ext>
            </a:extLst>
          </p:cNvPr>
          <p:cNvSpPr txBox="1"/>
          <p:nvPr/>
        </p:nvSpPr>
        <p:spPr>
          <a:xfrm>
            <a:off x="7444291" y="2377440"/>
            <a:ext cx="5210081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>
                <a:solidFill>
                  <a:schemeClr val="bg1"/>
                </a:solidFill>
                <a:latin typeface="Syne" panose="020B0604020202020204" charset="-18"/>
              </a:rPr>
              <a:t>Performanța modelului:</a:t>
            </a:r>
            <a:endParaRPr lang="en-AU" sz="2000" dirty="0">
              <a:solidFill>
                <a:schemeClr val="bg1"/>
              </a:solidFill>
              <a:latin typeface="Syne" panose="020B0604020202020204" charset="-18"/>
            </a:endParaRPr>
          </a:p>
          <a:p>
            <a:endParaRPr lang="ro-RO" sz="2000" dirty="0">
              <a:solidFill>
                <a:schemeClr val="bg1"/>
              </a:solidFill>
              <a:latin typeface="Syne" panose="020B0604020202020204" charset="-1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  <a:latin typeface="Syne" panose="020B0604020202020204" charset="-18"/>
              </a:rPr>
              <a:t>R² = 0.867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  <a:latin typeface="Syne" panose="020B0604020202020204" charset="-18"/>
              </a:rPr>
              <a:t>R² ajustat = 0.847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  <a:latin typeface="Syne" panose="020B0604020202020204" charset="-18"/>
              </a:rPr>
              <a:t>p &lt; 2.2e-16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Syne" panose="020B0604020202020204" charset="-18"/>
            </a:endParaRPr>
          </a:p>
          <a:p>
            <a:r>
              <a:rPr lang="it-IT" sz="2400" dirty="0">
                <a:solidFill>
                  <a:schemeClr val="bg1"/>
                </a:solidFill>
                <a:latin typeface="Syne" panose="020B0604020202020204" charset="-18"/>
              </a:rPr>
              <a:t>Model solid, semnificativ și cu putere </a:t>
            </a:r>
          </a:p>
          <a:p>
            <a:r>
              <a:rPr lang="it-IT" sz="2400" dirty="0">
                <a:solidFill>
                  <a:schemeClr val="bg1"/>
                </a:solidFill>
                <a:latin typeface="Syne" panose="020B0604020202020204" charset="-18"/>
              </a:rPr>
              <a:t>explicativă ridicată.</a:t>
            </a:r>
          </a:p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7CC2B-6266-41AE-83D8-06124ED9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8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9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Concluzii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9833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Infrastructura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și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tehnologia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influențează direct poziția în clasamentul Smart City
→ Valorile scăzute duc la pierderi de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zeci de poziții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306050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Cazul Bucureștiului: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6916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Este vitală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depășirea pragului minim funcțional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
prin: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475547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Mobilitate urbană modernă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528828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Infrastructură verde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582108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Servicii digitale integrate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33951" y="6784896"/>
            <a:ext cx="1270265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Investițiile în aceste domenii pot crește semnificativ scorul </a:t>
            </a:r>
            <a:r>
              <a:rPr lang="en-US" sz="22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SMCR_2024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6529745"/>
            <a:ext cx="30480" cy="963811"/>
          </a:xfrm>
          <a:prstGeom prst="rect">
            <a:avLst/>
          </a:prstGeom>
          <a:solidFill>
            <a:srgbClr val="A9F00F"/>
          </a:solidFill>
          <a:ln/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535953-42AA-4930-9E9A-3A8AD1CB2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346" y="528280"/>
            <a:ext cx="1230737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Obiectivul 3: Impactul Îmbunătățirilor pentru București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72346" y="1272659"/>
            <a:ext cx="13285708" cy="38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Scop:</a:t>
            </a: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Estimarea poziției în clasament în funcție de îmbunătățirea scorurilor la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Structure2024</a:t>
            </a: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și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Technology2024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72346" y="1872972"/>
            <a:ext cx="13285708" cy="2781062"/>
          </a:xfrm>
          <a:prstGeom prst="roundRect">
            <a:avLst>
              <a:gd name="adj" fmla="val 290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9966" y="1880592"/>
            <a:ext cx="13269039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73681" y="2003465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99948" y="2003465"/>
            <a:ext cx="4030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Tehnologie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22406" y="2003465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Poziție estimată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9966" y="2433757"/>
            <a:ext cx="13269039" cy="55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3681" y="2556629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99948" y="2556629"/>
            <a:ext cx="4030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22406" y="2556629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72,7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9966" y="2986921"/>
            <a:ext cx="13269039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3681" y="3109793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99948" y="3109793"/>
            <a:ext cx="4030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22406" y="3109793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54,8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9966" y="3540085"/>
            <a:ext cx="13269039" cy="55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3681" y="3662958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99948" y="3662958"/>
            <a:ext cx="4030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22406" y="3662958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52,4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9966" y="4093250"/>
            <a:ext cx="13269039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3681" y="4216122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99948" y="4216122"/>
            <a:ext cx="4030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22406" y="4216122"/>
            <a:ext cx="403455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50,8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477" y="5086231"/>
            <a:ext cx="12997577" cy="76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Poziția actuală: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</a:t>
            </a: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
Prin îmbunătățiri, Bucureștiul poate urca cu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până la 49 de locuri</a:t>
            </a: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în Smart City Index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672346" y="4870133"/>
            <a:ext cx="22860" cy="1200626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27" name="Text 25"/>
          <p:cNvSpPr/>
          <p:nvPr/>
        </p:nvSpPr>
        <p:spPr>
          <a:xfrm>
            <a:off x="672346" y="6286857"/>
            <a:ext cx="13285708" cy="38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Concluzie: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960477" y="7103269"/>
            <a:ext cx="12997577" cy="38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Investiții în infrastructură și digitalizare pot muta orașul din clasa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</a:t>
            </a: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în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</a:t>
            </a: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sau chiar </a:t>
            </a:r>
            <a:r>
              <a:rPr lang="en-US" sz="18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BBB</a:t>
            </a:r>
            <a:endParaRPr lang="en-US" sz="1850" dirty="0"/>
          </a:p>
        </p:txBody>
      </p:sp>
      <p:sp>
        <p:nvSpPr>
          <p:cNvPr id="29" name="Shape 27"/>
          <p:cNvSpPr/>
          <p:nvPr/>
        </p:nvSpPr>
        <p:spPr>
          <a:xfrm>
            <a:off x="672346" y="6887170"/>
            <a:ext cx="22860" cy="816412"/>
          </a:xfrm>
          <a:prstGeom prst="rect">
            <a:avLst/>
          </a:prstGeom>
          <a:solidFill>
            <a:srgbClr val="A9F00F"/>
          </a:solidFill>
          <a:ln/>
        </p:spPr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0A45A9-6820-464C-8909-5DA761337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3071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Măsuri propuse: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2370653"/>
            <a:ext cx="7556421" cy="91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Modelul „15-minute city”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
→ Acces rapid la educație, sănătate, transport etc.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3364587"/>
            <a:ext cx="7556421" cy="91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Transport public sustenabil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
→ Autobuze electrice, tramvaie moderne, benzi dedicate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3790" y="4358521"/>
            <a:ext cx="7556421" cy="91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Rețea de biciclete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
→ Coerentă, sigură, integrată metropolitan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93790" y="5352455"/>
            <a:ext cx="7556421" cy="136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Reducerea traficului auto individual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
→ Zone restricționate, taxare inteligentă, mobilitate electrică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895" y="752237"/>
            <a:ext cx="7705011" cy="287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Lucrarea de față a evidențiat importanța analizei predictive în înțelegerea poziționării orașelor în clasamentele internaționale de tip Smart City Index. Prin utilizarea unor modele statistice robuste, precum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Random Forest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și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regresia stepwise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am demonstrat că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infrastructura urbană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și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gradul de digitalizare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sunt principalii factori care influențează performanța urbană.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205895" y="3860483"/>
            <a:ext cx="7705011" cy="82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În cazul Bucureștiului, există un decalaj clar între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potențialul socio-economic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și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performanța urbană reală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05895" y="4913709"/>
            <a:ext cx="7705011" cy="1233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Prin investiții țintite și aplicarea unor politici inteligente, orașul poate urca semnificativ în clasament și se poate alinia cu orașele europene de top.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14267" y="6609159"/>
            <a:ext cx="7396639" cy="82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Modelele predictive pot ghida deciziile viitoare pentru un oraș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mai eficient, sustenabil și conectat.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05895" y="6377940"/>
            <a:ext cx="22860" cy="1284446"/>
          </a:xfrm>
          <a:prstGeom prst="rect">
            <a:avLst/>
          </a:prstGeom>
          <a:solidFill>
            <a:srgbClr val="A9F00F"/>
          </a:solidFill>
          <a:ln/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6CBB6-B794-479B-9CC2-E66B4EE53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721602" y="4114800"/>
            <a:ext cx="5187196" cy="82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88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</a:t>
            </a:r>
            <a:r>
              <a:rPr lang="ro-RO" sz="88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ţumim</a:t>
            </a:r>
            <a:endParaRPr lang="en-US" sz="8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6CBB6-B794-479B-9CC2-E66B4EE53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81" y="7765765"/>
            <a:ext cx="1786919" cy="36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1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1449</Words>
  <Application>Microsoft Office PowerPoint</Application>
  <PresentationFormat>Custom</PresentationFormat>
  <Paragraphs>141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Syne</vt:lpstr>
      <vt:lpstr>Syne Extra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Constantin Teodor</cp:lastModifiedBy>
  <cp:revision>8</cp:revision>
  <dcterms:created xsi:type="dcterms:W3CDTF">2025-05-30T21:24:39Z</dcterms:created>
  <dcterms:modified xsi:type="dcterms:W3CDTF">2025-05-31T08:57:29Z</dcterms:modified>
</cp:coreProperties>
</file>